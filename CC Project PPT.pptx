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6" roundtripDataSignature="AMtx7mi6aSg0vOKEkX5NSje4ieCHbMFt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83949e397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d83949e39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83949e397_0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d83949e39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83949e397_0_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3d83949e39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83949e397_0_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d83949e39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83949e397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d83949e39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83949e397_0_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d83949e39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" name="Google Shape;2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0" y="1203150"/>
            <a:ext cx="8520600" cy="153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Mini-RAFT — Distributed Collaborative Drawing Board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0" y="3561250"/>
            <a:ext cx="8520600" cy="26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440"/>
              <a:buNone/>
            </a:pPr>
            <a:r>
              <a:rPr lang="en" sz="1500">
                <a:solidFill>
                  <a:schemeClr val="dk1"/>
                </a:solidFill>
              </a:rPr>
              <a:t>Mahendra Kausik V - PES1UG23AM163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SzPts val="440"/>
              <a:buNone/>
            </a:pPr>
            <a:r>
              <a:rPr lang="en" sz="1500">
                <a:solidFill>
                  <a:schemeClr val="dk1"/>
                </a:solidFill>
              </a:rPr>
              <a:t>MS Ananthesha - </a:t>
            </a:r>
            <a:r>
              <a:rPr lang="en" sz="1500">
                <a:solidFill>
                  <a:schemeClr val="dk1"/>
                </a:solidFill>
              </a:rPr>
              <a:t>PES1UG23AM161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SzPts val="440"/>
              <a:buNone/>
            </a:pPr>
            <a:r>
              <a:rPr lang="en" sz="1500">
                <a:solidFill>
                  <a:schemeClr val="dk1"/>
                </a:solidFill>
              </a:rPr>
              <a:t>Purandar Puneet - PES1UG23AM906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 u="sng"/>
              <a:t>Introduction:</a:t>
            </a:r>
            <a:endParaRPr b="1" u="sng"/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1017725"/>
            <a:ext cx="8520600" cy="39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Real-time collaboration needs consistent shared state despite crashes and partitions.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Implements and demonstrates strong consistency, leader election, replication, and recovery in a small, observable system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Learning goals: understand RAFT internals (terms, election, AppendEntries), observe commit semantics, and verify replica catch‑up behavior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Key technical components: React/Vite frontend, WebSocket Gateway, 4-node RAFT replicas (HTTP RPCs: AppendEntries, RequestVote, SyncLog, client-write)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 txBox="1"/>
          <p:nvPr>
            <p:ph type="title"/>
          </p:nvPr>
        </p:nvSpPr>
        <p:spPr>
          <a:xfrm>
            <a:off x="311700" y="310675"/>
            <a:ext cx="86316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2500" u="sng"/>
              <a:t>Model Architecture:</a:t>
            </a:r>
            <a:endParaRPr b="1" sz="2500" u="sng"/>
          </a:p>
        </p:txBody>
      </p:sp>
      <p:sp>
        <p:nvSpPr>
          <p:cNvPr id="67" name="Google Shape;67;p4"/>
          <p:cNvSpPr txBox="1"/>
          <p:nvPr>
            <p:ph idx="1" type="body"/>
          </p:nvPr>
        </p:nvSpPr>
        <p:spPr>
          <a:xfrm>
            <a:off x="311700" y="1213325"/>
            <a:ext cx="8631600" cy="3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Components: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Frontend (React + Vite): useWebSocket, useBoard, optimistic local rendering, pending-entry tracking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Gateway (Node): HTTP + WebSocket endpoint, routes client writes to RAFT leader, aggregates /cluster-status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Replica cluster (4 nodes): RAFT state machine (follower/candidate/leader), RPCs: POST /append-entries, POST /request-vote, POST /sync-log, POST /client-write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Dashboard: polls gateway /cluster-status for observability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Interfaces and protocols: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Client ↔ Gateway: WebSocket /ws (messages: join, stroke, join_ack, stroke_broadcast)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Gateway ↔ Replica: HTTP RPCs (/client-write → leader, leader → followers: append-entries; heartbeats; sync-log for catch-up)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Replica ↔ Replica: RAFT RPC mesh for replication and election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83949e397_0_10"/>
          <p:cNvSpPr txBox="1"/>
          <p:nvPr>
            <p:ph type="title"/>
          </p:nvPr>
        </p:nvSpPr>
        <p:spPr>
          <a:xfrm>
            <a:off x="311700" y="310675"/>
            <a:ext cx="86316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2500" u="sng"/>
              <a:t>Model Architecture:</a:t>
            </a:r>
            <a:endParaRPr b="1" sz="2500" u="sng"/>
          </a:p>
        </p:txBody>
      </p:sp>
      <p:sp>
        <p:nvSpPr>
          <p:cNvPr id="73" name="Google Shape;73;g3d83949e397_0_10"/>
          <p:cNvSpPr txBox="1"/>
          <p:nvPr>
            <p:ph idx="1" type="body"/>
          </p:nvPr>
        </p:nvSpPr>
        <p:spPr>
          <a:xfrm>
            <a:off x="311700" y="1213325"/>
            <a:ext cx="8631600" cy="3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Data model: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Immutable log entries: { strokeId, userId, path, color, timestamp, action } — undo/redo as compensation entries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Commit rule: leader advances commitIndex when majority matchIndex &gt;= N for entries in current term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Failure &amp; recovery: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Election timeout: randomized (500–800 ms); heartbeat: 150 ms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Leader demotion on higher-term observation; followers reject mismatched AppendEntries and trigger sync-log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Restarted followers request committed entries from leader and apply them (no overwrites of committed entries)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83949e397_0_16"/>
          <p:cNvSpPr txBox="1"/>
          <p:nvPr>
            <p:ph type="title"/>
          </p:nvPr>
        </p:nvSpPr>
        <p:spPr>
          <a:xfrm>
            <a:off x="311700" y="310675"/>
            <a:ext cx="86316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2500" u="sng"/>
              <a:t>RAFT Protocol Specifics:</a:t>
            </a:r>
            <a:endParaRPr b="1" sz="2500" u="sng"/>
          </a:p>
        </p:txBody>
      </p:sp>
      <p:sp>
        <p:nvSpPr>
          <p:cNvPr id="79" name="Google Shape;79;g3d83949e397_0_16"/>
          <p:cNvSpPr txBox="1"/>
          <p:nvPr>
            <p:ph idx="1" type="body"/>
          </p:nvPr>
        </p:nvSpPr>
        <p:spPr>
          <a:xfrm>
            <a:off x="311700" y="1066375"/>
            <a:ext cx="8631600" cy="3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Core invariants: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Safety: only entries committed by a leader that has majority support become visible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Leader uniqueness per term; terms </a:t>
            </a:r>
            <a:r>
              <a:rPr lang="en" sz="1400">
                <a:solidFill>
                  <a:schemeClr val="dk1"/>
                </a:solidFill>
              </a:rPr>
              <a:t>monotonically</a:t>
            </a:r>
            <a:r>
              <a:rPr lang="en" sz="1400">
                <a:solidFill>
                  <a:schemeClr val="dk1"/>
                </a:solidFill>
              </a:rPr>
              <a:t> increase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Timing &amp; timeouts: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Election timeout: randomized 500-800 ms (per-replica skew)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Heartbeat interval: 150 ms (leader </a:t>
            </a:r>
            <a:r>
              <a:rPr lang="en" sz="1400">
                <a:solidFill>
                  <a:schemeClr val="dk1"/>
                </a:solidFill>
              </a:rPr>
              <a:t>→ </a:t>
            </a:r>
            <a:r>
              <a:rPr lang="en" sz="1400">
                <a:solidFill>
                  <a:schemeClr val="dk1"/>
                </a:solidFill>
              </a:rPr>
              <a:t> followers)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RPCs &amp; payload highlights: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POST /request-vote: { term, candidateId, lastLogIndex, lastLogTerm } → { term, voteGranted }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POST /append-entries: { term, leaderId, prevLogIndex, prevLogTerm, entries[], leaderCommit } → { term, success, currentLogLength }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POST /sync-log: follower catch-up: { fromIndex, term, leaderId } → { entries[], commitIndex }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POST /client-write: gateway → leader: { stroke } → leader appends then replicates via append-entries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83949e397_0_23"/>
          <p:cNvSpPr txBox="1"/>
          <p:nvPr>
            <p:ph type="title"/>
          </p:nvPr>
        </p:nvSpPr>
        <p:spPr>
          <a:xfrm>
            <a:off x="311700" y="310675"/>
            <a:ext cx="86316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2500" u="sng"/>
              <a:t>RAFT Protocol Specifics:</a:t>
            </a:r>
            <a:endParaRPr b="1" sz="2500" u="sng"/>
          </a:p>
        </p:txBody>
      </p:sp>
      <p:sp>
        <p:nvSpPr>
          <p:cNvPr id="85" name="Google Shape;85;g3d83949e397_0_23"/>
          <p:cNvSpPr txBox="1"/>
          <p:nvPr>
            <p:ph idx="1" type="body"/>
          </p:nvPr>
        </p:nvSpPr>
        <p:spPr>
          <a:xfrm>
            <a:off x="311700" y="1066375"/>
            <a:ext cx="8631600" cy="3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Log replication mechanics: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Leader maintains nextIndex and matchIndex per follower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On mismatch leader decrements nextIndex and uses sync-log/AppendEntries to reconcile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Commit rule: leader advances commitIndex when a majority have matchIndex &gt;= N for entries in current term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Failure handling: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Higher-term observation causes leader/candidate demotion to follower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Split vote → election restart after randomized timeout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Network partition: minority partition cannot commit; majority continues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83949e397_0_30"/>
          <p:cNvSpPr txBox="1"/>
          <p:nvPr>
            <p:ph type="title"/>
          </p:nvPr>
        </p:nvSpPr>
        <p:spPr>
          <a:xfrm>
            <a:off x="311700" y="114750"/>
            <a:ext cx="86316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2500" u="sng"/>
              <a:t>End to End Workflow:</a:t>
            </a:r>
            <a:endParaRPr b="1" sz="2500" u="sng"/>
          </a:p>
        </p:txBody>
      </p:sp>
      <p:sp>
        <p:nvSpPr>
          <p:cNvPr id="91" name="Google Shape;91;g3d83949e397_0_30"/>
          <p:cNvSpPr txBox="1"/>
          <p:nvPr>
            <p:ph idx="1" type="body"/>
          </p:nvPr>
        </p:nvSpPr>
        <p:spPr>
          <a:xfrm>
            <a:off x="311700" y="956175"/>
            <a:ext cx="8631600" cy="3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Client A (owner) opens WebSocket to Gateway: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WS connect: ws://&lt;gateway&gt;/ws?boardId=BOARD1&amp;userId=UserA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Client A sends join { boardId: "BOARD1", userId: "UserA" }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Gateway ensures board state: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Gateway queries replicas: GET /board-state?boardId=BOARD1. If empty, Gateway returns join_ack { boardId: "BOARD1", strokes: [] } to A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Client A renders an empty board (and now is in the room)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Client B opens and joins: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WS connect: ws://&lt;gateway&gt;/ws?boardId=BOARD1&amp;userId=UserB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B sends join { boardId: "BOARD1", userId: "UserB" }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Gateway returns join_ack { boardId: "BOARD1", strokes: [&lt;committed entries&gt;] }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Client B renders committed strokes and joins the live session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83949e397_0_36"/>
          <p:cNvSpPr txBox="1"/>
          <p:nvPr>
            <p:ph type="title"/>
          </p:nvPr>
        </p:nvSpPr>
        <p:spPr>
          <a:xfrm>
            <a:off x="311700" y="102500"/>
            <a:ext cx="86316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2500" u="sng"/>
              <a:t>End to End Workflow:</a:t>
            </a:r>
            <a:endParaRPr b="1" sz="2500" u="sng"/>
          </a:p>
        </p:txBody>
      </p:sp>
      <p:sp>
        <p:nvSpPr>
          <p:cNvPr id="97" name="Google Shape;97;g3d83949e397_0_36"/>
          <p:cNvSpPr txBox="1"/>
          <p:nvPr>
            <p:ph idx="1" type="body"/>
          </p:nvPr>
        </p:nvSpPr>
        <p:spPr>
          <a:xfrm>
            <a:off x="311700" y="858200"/>
            <a:ext cx="8631600" cy="3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Client A draws a stroke (optimistic UI):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Browser creates immutable stroke object:</a:t>
            </a:r>
            <a:br>
              <a:rPr lang="en" sz="1400">
                <a:solidFill>
                  <a:schemeClr val="dk1"/>
                </a:solidFill>
              </a:rPr>
            </a:br>
            <a:r>
              <a:rPr lang="en" sz="1400">
                <a:solidFill>
                  <a:schemeClr val="dk1"/>
                </a:solidFill>
              </a:rPr>
              <a:t>{ strokeId, userId: "UserA", path, color, ts, action: "stroke" }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Frontend immediately renders the stroke locally as pending (optimistic)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Gateway forwards write to RAFT leader: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Gateway receives WS stroke { ... } and calls POST /client-write { stroke } on the presumed leader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If the node is not leader, it may return a leaderHint and Gateway retries the leader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Leader appends &amp; replicates: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Leader appends the entry to its local log (term=currentTerm, index=lastIndex+1)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Leader sends POST /append-entries to followers with { term, leaderId, prevLogIndex, prevLogTerm, entries:[stroke], leaderCommit }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Followers validate prevLogIndex/prevLogTerm; respond { term, success, currentLogLength }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On reject leader decrements nextIndex and retries (or uses POST /sync-log to resync)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83949e397_0_44"/>
          <p:cNvSpPr txBox="1"/>
          <p:nvPr>
            <p:ph type="title"/>
          </p:nvPr>
        </p:nvSpPr>
        <p:spPr>
          <a:xfrm>
            <a:off x="311700" y="163700"/>
            <a:ext cx="86316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" sz="2500" u="sng"/>
              <a:t>End to End Workflow:</a:t>
            </a:r>
            <a:endParaRPr b="1" sz="2500" u="sng"/>
          </a:p>
        </p:txBody>
      </p:sp>
      <p:sp>
        <p:nvSpPr>
          <p:cNvPr id="103" name="Google Shape;103;g3d83949e397_0_44"/>
          <p:cNvSpPr txBox="1"/>
          <p:nvPr>
            <p:ph idx="1" type="body"/>
          </p:nvPr>
        </p:nvSpPr>
        <p:spPr>
          <a:xfrm>
            <a:off x="311700" y="919400"/>
            <a:ext cx="8631600" cy="3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Commit on majority: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When a majority report the entry as stored (matchIndex updated), leader advances commitIndex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Leader responds success to Gateway for POST /client-write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Gateway broadcasts committed stroke: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Gateway sends WS stroke_broadcast { stroke, logIndex, term } to all connected clients on BOARD1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Clients receive stroke_broadcast and mark the pending stroke as confirmed (or render it if they had not)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Client-side handling of failures/timeouts: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If commit fails or leader not found, frontend rolls back the pending stroke (or shows error)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 sz="1400">
                <a:solidFill>
                  <a:schemeClr val="dk1"/>
                </a:solidFill>
              </a:rPr>
              <a:t>Gateway uses bounded exponential backoff and leader retries to ensure eventual delivery once leader is available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 txBox="1"/>
          <p:nvPr>
            <p:ph type="title"/>
          </p:nvPr>
        </p:nvSpPr>
        <p:spPr>
          <a:xfrm>
            <a:off x="341850" y="558000"/>
            <a:ext cx="8460300" cy="3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5500"/>
              <a:t>Thank You</a:t>
            </a:r>
            <a:endParaRPr sz="5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